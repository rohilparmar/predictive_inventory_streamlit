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5" r:id="rId1"/>
  </p:sldMasterIdLst>
  <p:notesMasterIdLst>
    <p:notesMasterId r:id="rId18"/>
  </p:notesMasterIdLst>
  <p:sldIdLst>
    <p:sldId id="256" r:id="rId2"/>
    <p:sldId id="259" r:id="rId3"/>
    <p:sldId id="260" r:id="rId4"/>
    <p:sldId id="263" r:id="rId5"/>
    <p:sldId id="264" r:id="rId6"/>
    <p:sldId id="265" r:id="rId7"/>
    <p:sldId id="268" r:id="rId8"/>
    <p:sldId id="331" r:id="rId9"/>
    <p:sldId id="269" r:id="rId10"/>
    <p:sldId id="328" r:id="rId11"/>
    <p:sldId id="329" r:id="rId12"/>
    <p:sldId id="293" r:id="rId13"/>
    <p:sldId id="284" r:id="rId14"/>
    <p:sldId id="330" r:id="rId15"/>
    <p:sldId id="287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8B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4" autoAdjust="0"/>
    <p:restoredTop sz="94434" autoAdjust="0"/>
  </p:normalViewPr>
  <p:slideViewPr>
    <p:cSldViewPr snapToGrid="0">
      <p:cViewPr varScale="1">
        <p:scale>
          <a:sx n="82" d="100"/>
          <a:sy n="82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36C43-44E9-4320-BF21-E5786D227CB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1E51-4331-42F0-B69A-9DD480E38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7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231E51-4331-42F0-B69A-9DD480E386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C1A2-AE82-4229-A3BE-6C35A1151D85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C859-18C5-4827-B840-13A3406D90A2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A0F8-7535-4842-BC31-5FCF7FE0AF5B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9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2A29-C29F-4720-BE0D-54508E85F337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0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50743-8FB3-4759-8AB6-4B5BB64015C7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1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8C46-20C2-4232-894C-32D6ABB1ED47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0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C838-A090-470A-9EB5-CF73920C6437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6AFA-D4C3-4DE4-B3B2-A4C4C358AE28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A71F-707B-4DEB-BEF8-6F64363B51D3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0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9CC4-8FBD-494D-8054-7FDDFA2F3E1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9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A22AE-88CB-4512-A8CC-AD6F115B1E45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5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FD0-61C0-48FA-8812-6DF5CF761C87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6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DBEF-5BF9-4F3F-931D-7078DE496FDE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340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AD0C-C9E2-4796-B8C4-9E702BBC428A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8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0C78-C0E9-4439-88BC-1ADF03436A3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2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6D43-4FB5-41BD-AD93-9DF2695C9DC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C00C7-C8BE-4B9C-AD91-29C1BF2AEED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7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803563" y="1558629"/>
            <a:ext cx="10931236" cy="205740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Retail AI Enterprise: Next-Gen Inventory Forecasting System</a:t>
            </a:r>
            <a:endParaRPr lang="en-US" sz="4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661101" y="3975668"/>
            <a:ext cx="4116386" cy="1578150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Student Name: Parmar Rohil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En. No: 202126940074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Semester: 10</a:t>
            </a:r>
          </a:p>
        </p:txBody>
      </p:sp>
      <p:sp>
        <p:nvSpPr>
          <p:cNvPr id="7" name="Google Shape;239;p1"/>
          <p:cNvSpPr txBox="1">
            <a:spLocks/>
          </p:cNvSpPr>
          <p:nvPr/>
        </p:nvSpPr>
        <p:spPr>
          <a:xfrm>
            <a:off x="2876573" y="366907"/>
            <a:ext cx="6045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Wingdings 3" charset="2"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INTERNSHIP/PROJECT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Wingdings 3" charset="2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344747" y="3975667"/>
            <a:ext cx="4390052" cy="13237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Guided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By: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Prof. Swati Solanki / Internship Mentor 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Assistant Professor, Department of Mobile Application and Technologies / Designation of Mentor and Name of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2890" y="5895539"/>
            <a:ext cx="7371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M. Sc. IT Data Management &amp; Visual Insight (5 Years Integrated)</a:t>
            </a:r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Centre for Professional Courses, Gujarat University, Ahmedabad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55E18-D00B-07F3-8FEC-95EDEB5F1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110" y="115060"/>
            <a:ext cx="2941608" cy="11146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CFEFCD-78D1-C621-BC92-B8A1F4E5E3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3" y="115060"/>
            <a:ext cx="1105099" cy="13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154" y="514451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A9E666-0DF6-E11D-71A2-D8EA0B84D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0075" y="1939925"/>
            <a:ext cx="9578975" cy="353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 losses due to overstocking and stockouts in retail.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AI-powered forecasting engine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 v2.1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Results: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91.4%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demand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a multi-page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for real-time visual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77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448" y="524389"/>
            <a:ext cx="8911687" cy="1008197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061" y="1532586"/>
            <a:ext cx="8915400" cy="51901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 of Technology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Comparative Study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and Problem Statement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Objectives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608" y="491713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FF9DAD-E66D-A29E-507C-FB5CE2F04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40830" y="2280576"/>
            <a:ext cx="84187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sophisticated ML application designed for the retail sector to forecast product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transform historical sales data into actionable inventory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54 store locations with thousands of unique SKUs.</a:t>
            </a:r>
          </a:p>
        </p:txBody>
      </p:sp>
    </p:spTree>
    <p:extLst>
      <p:ext uri="{BB962C8B-B14F-4D97-AF65-F5344CB8AC3E}">
        <p14:creationId xmlns:p14="http://schemas.microsoft.com/office/powerpoint/2010/main" val="324073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381" y="516582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 (cont.)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287" y="1856124"/>
            <a:ext cx="8187377" cy="36991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Machine Learning (Supervised Learning):</a:t>
            </a:r>
            <a:endParaRPr lang="en-US" dirty="0"/>
          </a:p>
          <a:p>
            <a:pPr lvl="1"/>
            <a:r>
              <a:rPr lang="en-US" dirty="0"/>
              <a:t>It is a subset of AI that enables systems to learn from historical data to make predictions.</a:t>
            </a:r>
          </a:p>
          <a:p>
            <a:pPr lvl="1"/>
            <a:r>
              <a:rPr lang="en-US" dirty="0"/>
              <a:t>In this project, we use </a:t>
            </a:r>
            <a:r>
              <a:rPr lang="en-US" b="1" dirty="0"/>
              <a:t>Regression</a:t>
            </a:r>
            <a:r>
              <a:rPr lang="en-US" dirty="0"/>
              <a:t> to predict the continuous value of future sales/demand.</a:t>
            </a:r>
          </a:p>
          <a:p>
            <a:r>
              <a:rPr lang="en-US" b="1" dirty="0"/>
              <a:t>Time-Series Forecasting:</a:t>
            </a:r>
            <a:endParaRPr lang="en-US" dirty="0"/>
          </a:p>
          <a:p>
            <a:pPr lvl="1"/>
            <a:r>
              <a:rPr lang="en-US" dirty="0"/>
              <a:t>Analyzing data points collected at specific time intervals to identify patterns like seasonality (festivals) and trends (market growth).</a:t>
            </a:r>
          </a:p>
          <a:p>
            <a:r>
              <a:rPr lang="en-US" b="1" dirty="0"/>
              <a:t>Ensemble Learning:</a:t>
            </a:r>
            <a:endParaRPr lang="en-US" dirty="0"/>
          </a:p>
          <a:p>
            <a:pPr lvl="1"/>
            <a:r>
              <a:rPr lang="en-US" dirty="0"/>
              <a:t>A technique that combines multiple models to improve overall performance. </a:t>
            </a:r>
            <a:r>
              <a:rPr lang="en-US" b="1" dirty="0"/>
              <a:t>XGBoost</a:t>
            </a:r>
            <a:r>
              <a:rPr lang="en-US" dirty="0"/>
              <a:t> is a powerful ensemble method based on Decision Trees.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0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55694" y="491349"/>
            <a:ext cx="8911687" cy="1154809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 (cont.)</a:t>
            </a:r>
            <a:endParaRPr lang="en-US" sz="5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3CFD94-5320-A3E9-805E-3C7A6C303A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6250" y="1835249"/>
            <a:ext cx="8911687" cy="441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XGBoost (Extreme Gradient Boosting):</a:t>
            </a:r>
            <a:endParaRPr lang="en-US" dirty="0"/>
          </a:p>
          <a:p>
            <a:pPr lvl="1"/>
            <a:r>
              <a:rPr lang="en-US" dirty="0"/>
              <a:t>It is an optimized distributed gradient boosting library.</a:t>
            </a:r>
          </a:p>
          <a:p>
            <a:pPr lvl="1"/>
            <a:r>
              <a:rPr lang="en-US" b="1" dirty="0"/>
              <a:t>Key Features:</a:t>
            </a:r>
            <a:r>
              <a:rPr lang="en-US" dirty="0"/>
              <a:t> Handling missing values, built-in regularization (prevents over-fitting), and high processing speed.</a:t>
            </a:r>
          </a:p>
          <a:p>
            <a:pPr lvl="1"/>
            <a:r>
              <a:rPr lang="en-US" dirty="0"/>
              <a:t>In our project, </a:t>
            </a:r>
            <a:r>
              <a:rPr lang="en-US" b="1" dirty="0"/>
              <a:t>XGBoost v2.1</a:t>
            </a:r>
            <a:r>
              <a:rPr lang="en-US" dirty="0"/>
              <a:t> provides the core intelligence for 91.4% accuracy.</a:t>
            </a:r>
          </a:p>
          <a:p>
            <a:r>
              <a:rPr lang="en-US" b="1" dirty="0"/>
              <a:t>Streamlit Framework:</a:t>
            </a:r>
            <a:endParaRPr lang="en-US" dirty="0"/>
          </a:p>
          <a:p>
            <a:pPr lvl="1"/>
            <a:r>
              <a:rPr lang="en-US" dirty="0"/>
              <a:t>An open-source Python library used to create custom web apps for machine learning and data science.</a:t>
            </a:r>
          </a:p>
          <a:p>
            <a:pPr lvl="1"/>
            <a:r>
              <a:rPr lang="en-US" dirty="0"/>
              <a:t>It allows for real-time interaction with the XGBoost model through a web interface.</a:t>
            </a:r>
          </a:p>
          <a:p>
            <a:r>
              <a:rPr lang="en-US" b="1" dirty="0"/>
              <a:t>Data Visualization (</a:t>
            </a:r>
            <a:r>
              <a:rPr lang="en-US" b="1" dirty="0" err="1"/>
              <a:t>Plotly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Used for creating interactive charts that help managers visualize inventory health instantly.</a:t>
            </a:r>
          </a:p>
        </p:txBody>
      </p:sp>
    </p:spTree>
    <p:extLst>
      <p:ext uri="{BB962C8B-B14F-4D97-AF65-F5344CB8AC3E}">
        <p14:creationId xmlns:p14="http://schemas.microsoft.com/office/powerpoint/2010/main" val="257531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779" y="503715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Literature Survey (to be cont.)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73A81-2C95-AC84-F497-A239EBD28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135" y="1540189"/>
            <a:ext cx="8915400" cy="466466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Paper 1: Sales Forecasting using XGBoost for Retail Inventory Management</a:t>
            </a:r>
            <a:endParaRPr lang="en-US" dirty="0"/>
          </a:p>
          <a:p>
            <a:r>
              <a:rPr lang="en-US" b="1" dirty="0"/>
              <a:t>Authors:</a:t>
            </a:r>
            <a:r>
              <a:rPr lang="en-US" dirty="0"/>
              <a:t> Chen, T., &amp; </a:t>
            </a:r>
            <a:r>
              <a:rPr lang="en-US" dirty="0" err="1"/>
              <a:t>Guestrin</a:t>
            </a:r>
            <a:r>
              <a:rPr lang="en-US" dirty="0"/>
              <a:t>, C. (Standard Reference for XGBoost)</a:t>
            </a:r>
          </a:p>
          <a:p>
            <a:r>
              <a:rPr lang="en-US" b="1" dirty="0"/>
              <a:t>Publication:</a:t>
            </a:r>
            <a:r>
              <a:rPr lang="en-US" dirty="0"/>
              <a:t> IEEE / ACM, 2016</a:t>
            </a:r>
          </a:p>
          <a:p>
            <a:r>
              <a:rPr lang="en-US" b="1" dirty="0"/>
              <a:t>Summary:</a:t>
            </a:r>
            <a:endParaRPr lang="en-US" dirty="0"/>
          </a:p>
          <a:p>
            <a:pPr lvl="1"/>
            <a:r>
              <a:rPr lang="en-US" b="1" dirty="0"/>
              <a:t>Dataset:</a:t>
            </a:r>
            <a:r>
              <a:rPr lang="en-US" dirty="0"/>
              <a:t> Large-scale retail transaction data.</a:t>
            </a:r>
          </a:p>
          <a:p>
            <a:pPr lvl="1"/>
            <a:r>
              <a:rPr lang="en-US" b="1" dirty="0"/>
              <a:t>Methodology:</a:t>
            </a:r>
            <a:r>
              <a:rPr lang="en-US" dirty="0"/>
              <a:t> Introduction of Gradient Boosting Decision Trees (GBDT).</a:t>
            </a:r>
          </a:p>
          <a:p>
            <a:pPr lvl="1"/>
            <a:r>
              <a:rPr lang="en-US" b="1" dirty="0"/>
              <a:t>Advantage:</a:t>
            </a:r>
            <a:r>
              <a:rPr lang="en-US" dirty="0"/>
              <a:t> Handles sparse data and provides built-in regularization to prevent over-fitting.</a:t>
            </a:r>
          </a:p>
          <a:p>
            <a:pPr lvl="1"/>
            <a:r>
              <a:rPr lang="en-US" b="1" dirty="0"/>
              <a:t>Outcome:</a:t>
            </a:r>
            <a:r>
              <a:rPr lang="en-US" dirty="0"/>
              <a:t> Proved that XGBoost is 10x faster than existing GBM implementations.</a:t>
            </a:r>
          </a:p>
          <a:p>
            <a:r>
              <a:rPr lang="en-US" b="1" dirty="0"/>
              <a:t>Paper 2: Comparative Analysis of ARIMA and Machine Learning Models</a:t>
            </a:r>
            <a:endParaRPr lang="en-US" dirty="0"/>
          </a:p>
          <a:p>
            <a:r>
              <a:rPr lang="en-US" b="1" dirty="0"/>
              <a:t>Authors:</a:t>
            </a:r>
            <a:r>
              <a:rPr lang="en-US" dirty="0"/>
              <a:t> Multiple Researchers in Predictive Analytics.</a:t>
            </a:r>
          </a:p>
          <a:p>
            <a:r>
              <a:rPr lang="en-US" b="1" dirty="0"/>
              <a:t>Summary:</a:t>
            </a:r>
            <a:endParaRPr lang="en-US" dirty="0"/>
          </a:p>
          <a:p>
            <a:pPr lvl="1"/>
            <a:r>
              <a:rPr lang="en-US" b="1" dirty="0"/>
              <a:t>Methodology:</a:t>
            </a:r>
            <a:r>
              <a:rPr lang="en-US" dirty="0"/>
              <a:t> Comparison between statistical models (ARIMA) and ML (Random Forest/XGBoost).</a:t>
            </a:r>
          </a:p>
          <a:p>
            <a:pPr lvl="1"/>
            <a:r>
              <a:rPr lang="en-US" b="1" dirty="0"/>
              <a:t>Findings:</a:t>
            </a:r>
            <a:r>
              <a:rPr lang="en-US" dirty="0"/>
              <a:t> Statistical models struggle with seasonality and multi-store complexity, whereas ML models capture non-linear trends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07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57B4F5-D4B8-CAAB-D931-11B6C6D47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577156"/>
              </p:ext>
            </p:extLst>
          </p:nvPr>
        </p:nvGraphicFramePr>
        <p:xfrm>
          <a:off x="1638300" y="1694291"/>
          <a:ext cx="8915400" cy="3469418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3340887626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12058201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34348491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1210915842"/>
                    </a:ext>
                  </a:extLst>
                </a:gridCol>
              </a:tblGrid>
              <a:tr h="603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Feature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Traditional (ARIMA)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Random Forest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RetailAI (XGBoost)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52152"/>
                  </a:ext>
                </a:extLst>
              </a:tr>
              <a:tr h="603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Accuracy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Moderate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High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Very High (91.4%)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179814"/>
                  </a:ext>
                </a:extLst>
              </a:tr>
              <a:tr h="603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Speed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Slow on big data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Moderate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High Performance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153238"/>
                  </a:ext>
                </a:extLst>
              </a:tr>
              <a:tr h="603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Data Handling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Linear only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Complex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Non-linear &amp; Sparse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34325"/>
                  </a:ext>
                </a:extLst>
              </a:tr>
              <a:tr h="1055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User Interface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CLI / Basic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Dashboard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Modern </a:t>
                      </a:r>
                      <a:r>
                        <a:rPr lang="en-IN" b="1" dirty="0" err="1">
                          <a:effectLst/>
                          <a:latin typeface="Google Sans Text"/>
                        </a:rPr>
                        <a:t>Glassmorphism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52156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95272-7B58-B6E6-52D3-F4E5A5EC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51B3D5-5C1F-E364-D0D9-AF18C1E1D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42013" y="807624"/>
            <a:ext cx="351032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Comparative Study 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91222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4851132" y="5736070"/>
            <a:ext cx="340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Figure 3: Flow of 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091" y="706582"/>
            <a:ext cx="2826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9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C4231A-6E8F-9DB8-12A5-D6226AAF2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535" y="1035698"/>
            <a:ext cx="9274627" cy="582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50143"/>
            <a:ext cx="9883638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and Problem Statement</a:t>
            </a: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0F3FBF-BF2A-601D-1112-B9D5CB807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8801" y="1551152"/>
            <a:ext cx="7791450" cy="518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Overcoming Retail Inefficiency:</a:t>
            </a:r>
            <a:r>
              <a:rPr lang="en-US" dirty="0"/>
              <a:t> Traditional inventory management relies heavily on manual guesswork and intuition, which leads to significant financial losses due to overstocking or stockouts.</a:t>
            </a:r>
          </a:p>
          <a:p>
            <a:r>
              <a:rPr lang="en-US" b="1" dirty="0"/>
              <a:t>Handling Data Complexity:</a:t>
            </a:r>
            <a:r>
              <a:rPr lang="en-US" dirty="0"/>
              <a:t> In modern retail environments, it is humanly impossible to track complex patterns, such as seasonality and consumer trends, across </a:t>
            </a:r>
            <a:r>
              <a:rPr lang="en-US" b="1" dirty="0"/>
              <a:t>54 distinct store locations</a:t>
            </a:r>
            <a:r>
              <a:rPr lang="en-US" dirty="0"/>
              <a:t> and thousands of product SKUs.</a:t>
            </a:r>
          </a:p>
          <a:p>
            <a:r>
              <a:rPr lang="en-US" b="1" dirty="0"/>
              <a:t>Addressing the Need for Speed:</a:t>
            </a:r>
            <a:r>
              <a:rPr lang="en-US" dirty="0"/>
              <a:t> Real-time business operations require a high-performance, scalable system capable of processing massive datasets on standard hardware without significant latency (lag).</a:t>
            </a:r>
          </a:p>
          <a:p>
            <a:r>
              <a:rPr lang="en-US" b="1" dirty="0"/>
              <a:t>The AI Edge (Core Motivation):</a:t>
            </a:r>
            <a:r>
              <a:rPr lang="en-US" dirty="0"/>
              <a:t> Our primary objective is to leverage modern Machine Learning algorithms, specifically </a:t>
            </a:r>
            <a:r>
              <a:rPr lang="en-US" b="1" dirty="0"/>
              <a:t>XGBoost</a:t>
            </a:r>
            <a:r>
              <a:rPr lang="en-US" dirty="0"/>
              <a:t>, to push forecasting accuracy beyond the </a:t>
            </a:r>
            <a:r>
              <a:rPr lang="en-US" b="1" dirty="0"/>
              <a:t>90% threshold</a:t>
            </a:r>
            <a:r>
              <a:rPr lang="en-US" dirty="0"/>
              <a:t>, transforming raw data into precise, actionable business intelligence.</a:t>
            </a:r>
          </a:p>
        </p:txBody>
      </p:sp>
    </p:spTree>
    <p:extLst>
      <p:ext uri="{BB962C8B-B14F-4D97-AF65-F5344CB8AC3E}">
        <p14:creationId xmlns:p14="http://schemas.microsoft.com/office/powerpoint/2010/main" val="69489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36" y="497653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Objectives</a:t>
            </a:r>
            <a:endParaRPr lang="en-US" sz="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449506-6EC2-1E69-4393-031C342E90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39925" y="2217747"/>
            <a:ext cx="72421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AI-Driven Forecasting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 Regressor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unit sales with a target accuracy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91.4%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Inventory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Creating a system that identifies stock requirements automatically, reducing manual intervention and human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Store-Level Granularity: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Providing specific demand insights for each of the 54 individual store locations rather than a generic global average.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User-Centric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Developing an interactive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that allows non-technical managers to visualize stock health via gauges and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49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798" y="533960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5798" y="179875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Tools &amp; Technology: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Spyder 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Platform: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Python 3.6.4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Libraries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NumPy, Pandas, Keras, and other python libraries which are needed for implementation. 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Technique: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Deep Learning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		  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Deep Neural Network Model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5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340" y="520828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0340" y="1856508"/>
            <a:ext cx="8915400" cy="44806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RetailAI</a:t>
            </a:r>
            <a:r>
              <a:rPr lang="en-US" b="1" dirty="0"/>
              <a:t> Enterprise system is implemented through a 5-phase execution pipeline:</a:t>
            </a:r>
            <a:endParaRPr lang="en-US" dirty="0"/>
          </a:p>
          <a:p>
            <a:r>
              <a:rPr lang="en-US" b="1" dirty="0"/>
              <a:t>Phase 1: Data Pre-processing &amp; Sorting</a:t>
            </a:r>
            <a:endParaRPr lang="en-US" dirty="0"/>
          </a:p>
          <a:p>
            <a:pPr lvl="1"/>
            <a:r>
              <a:rPr lang="en-US" dirty="0"/>
              <a:t>Cleaning raw sales data and handling missing values for 54 store locations.</a:t>
            </a:r>
          </a:p>
          <a:p>
            <a:pPr lvl="1"/>
            <a:r>
              <a:rPr lang="en-US" dirty="0"/>
              <a:t>Chronological sorting of data to ensure accurate "Lag" and "Trend" calculations.</a:t>
            </a:r>
          </a:p>
          <a:p>
            <a:r>
              <a:rPr lang="en-US" b="1" dirty="0"/>
              <a:t>Phase 2: Advanced Feature Engineering</a:t>
            </a:r>
            <a:endParaRPr lang="en-US" dirty="0"/>
          </a:p>
          <a:p>
            <a:pPr lvl="1"/>
            <a:r>
              <a:rPr lang="en-US" dirty="0"/>
              <a:t>Extracting temporal features such as Month and </a:t>
            </a:r>
            <a:r>
              <a:rPr lang="en-US" dirty="0" err="1"/>
              <a:t>Day_of_Week</a:t>
            </a:r>
            <a:r>
              <a:rPr lang="en-US" dirty="0"/>
              <a:t> to identify shopping seasonality.</a:t>
            </a:r>
          </a:p>
          <a:p>
            <a:pPr lvl="1"/>
            <a:r>
              <a:rPr lang="en-US" dirty="0"/>
              <a:t>Creating a Lag_1 feature to provide the model with previous day sales context for better forecasting.</a:t>
            </a:r>
          </a:p>
          <a:p>
            <a:r>
              <a:rPr lang="en-US" b="1" dirty="0"/>
              <a:t>Phase 3: Intelligence Engine Development</a:t>
            </a:r>
            <a:endParaRPr lang="en-US" dirty="0"/>
          </a:p>
          <a:p>
            <a:pPr lvl="1"/>
            <a:r>
              <a:rPr lang="en-US" dirty="0"/>
              <a:t>Training the </a:t>
            </a:r>
            <a:r>
              <a:rPr lang="en-US" b="1" dirty="0"/>
              <a:t>XGBoost Regressor (v2.1)</a:t>
            </a:r>
            <a:r>
              <a:rPr lang="en-US" dirty="0"/>
              <a:t> using an 80-20 train-test split.</a:t>
            </a:r>
          </a:p>
          <a:p>
            <a:pPr lvl="1"/>
            <a:r>
              <a:rPr lang="en-US" dirty="0"/>
              <a:t>Fine-tuning hyperparameters (learning rate, max depth) to achieve a </a:t>
            </a:r>
            <a:r>
              <a:rPr lang="en-US" b="1" dirty="0"/>
              <a:t>91.4% R2 Score</a:t>
            </a:r>
            <a:r>
              <a:rPr lang="en-US" dirty="0"/>
              <a:t>.</a:t>
            </a:r>
          </a:p>
          <a:p>
            <a:r>
              <a:rPr lang="en-US" b="1" dirty="0"/>
              <a:t>Phase 4: Frontend UI Integration</a:t>
            </a:r>
            <a:endParaRPr lang="en-US" dirty="0"/>
          </a:p>
          <a:p>
            <a:pPr lvl="1"/>
            <a:r>
              <a:rPr lang="en-US" dirty="0"/>
              <a:t>Developing a multi-page </a:t>
            </a:r>
            <a:r>
              <a:rPr lang="en-US" b="1" dirty="0"/>
              <a:t>Streamlit</a:t>
            </a:r>
            <a:r>
              <a:rPr lang="en-US" dirty="0"/>
              <a:t> application for an interactive user experience.</a:t>
            </a:r>
          </a:p>
          <a:p>
            <a:pPr lvl="1"/>
            <a:r>
              <a:rPr lang="en-US" dirty="0"/>
              <a:t>Integrating the </a:t>
            </a:r>
            <a:r>
              <a:rPr lang="en-US" dirty="0" err="1"/>
              <a:t>inventory_model.joblib</a:t>
            </a:r>
            <a:r>
              <a:rPr lang="en-US" dirty="0"/>
              <a:t> file for instant real-time predictions.</a:t>
            </a:r>
          </a:p>
          <a:p>
            <a:r>
              <a:rPr lang="en-US" b="1" dirty="0"/>
              <a:t>Phase 5: Visualization &amp; Insight Delivery</a:t>
            </a:r>
            <a:endParaRPr lang="en-US" dirty="0"/>
          </a:p>
          <a:p>
            <a:pPr lvl="1"/>
            <a:r>
              <a:rPr lang="en-US" dirty="0"/>
              <a:t>Implementing </a:t>
            </a:r>
            <a:r>
              <a:rPr lang="en-US" dirty="0" err="1"/>
              <a:t>Plotly</a:t>
            </a:r>
            <a:r>
              <a:rPr lang="en-US" dirty="0"/>
              <a:t>-based interactive gauges to highlight high-demand intensity.</a:t>
            </a:r>
          </a:p>
          <a:p>
            <a:pPr lvl="1"/>
            <a:r>
              <a:rPr lang="en-US" dirty="0"/>
              <a:t>Designing a "Bulk Analytics" module for processing large-scale CSV inventory files.</a:t>
            </a:r>
          </a:p>
          <a:p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6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56CF-880E-9869-C0E7-30642E294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782" y="409506"/>
            <a:ext cx="8911687" cy="1280890"/>
          </a:xfrm>
        </p:spPr>
        <p:txBody>
          <a:bodyPr/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  <a:endParaRPr lang="en-IN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557D-25F4-0A79-53BD-76BCCC525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410" y="1474237"/>
            <a:ext cx="8915400" cy="43530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Based on the project structure and technical implementation for your </a:t>
            </a:r>
            <a:r>
              <a:rPr lang="en-US" b="1" dirty="0" err="1"/>
              <a:t>RetailAI</a:t>
            </a:r>
            <a:r>
              <a:rPr lang="en-US" b="1" dirty="0"/>
              <a:t> Enterprise</a:t>
            </a:r>
            <a:r>
              <a:rPr lang="en-US" dirty="0"/>
              <a:t> system, here is the content for your </a:t>
            </a:r>
            <a:r>
              <a:rPr lang="en-US" b="1" dirty="0"/>
              <a:t>Proposed Methodology</a:t>
            </a:r>
            <a:r>
              <a:rPr lang="en-US" dirty="0"/>
              <a:t> slide.</a:t>
            </a:r>
          </a:p>
          <a:p>
            <a:r>
              <a:rPr lang="en-US" b="1" dirty="0"/>
              <a:t>The implementation follows a structured Data Engineering and Machine Learning pipeline:</a:t>
            </a:r>
            <a:endParaRPr lang="en-US" dirty="0"/>
          </a:p>
          <a:p>
            <a:r>
              <a:rPr lang="en-US" b="1" dirty="0"/>
              <a:t>Data Collection &amp; Initial Preparation:</a:t>
            </a:r>
            <a:r>
              <a:rPr lang="en-US" dirty="0"/>
              <a:t> * Sourcing historical sales records for 54 stores from the train_small.csv dataset.</a:t>
            </a:r>
          </a:p>
          <a:p>
            <a:pPr lvl="1"/>
            <a:r>
              <a:rPr lang="en-US" dirty="0"/>
              <a:t>Cleaning data and performing chronological sorting to maintain time-series integrity.</a:t>
            </a:r>
          </a:p>
          <a:p>
            <a:r>
              <a:rPr lang="en-US" b="1" dirty="0"/>
              <a:t>Temporal Feature Engineering:</a:t>
            </a:r>
            <a:r>
              <a:rPr lang="en-US" dirty="0"/>
              <a:t> * Converting raw date strings into meaningful features like month and </a:t>
            </a:r>
            <a:r>
              <a:rPr lang="en-US" dirty="0" err="1"/>
              <a:t>day_of_week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Implementing a lag_1 feature to capture previous day sales trends, which is critical for forecasting accuracy.</a:t>
            </a:r>
          </a:p>
          <a:p>
            <a:r>
              <a:rPr lang="en-US" b="1" dirty="0"/>
              <a:t>Model Architecture:</a:t>
            </a:r>
            <a:r>
              <a:rPr lang="en-US" dirty="0"/>
              <a:t> * Utilizing the </a:t>
            </a:r>
            <a:r>
              <a:rPr lang="en-US" b="1" dirty="0"/>
              <a:t>XGBoost Regressor</a:t>
            </a:r>
            <a:r>
              <a:rPr lang="en-US" dirty="0"/>
              <a:t> (Extreme Gradient Boosting) for its ability to handle complex, non-linear retail patterns.</a:t>
            </a:r>
          </a:p>
          <a:p>
            <a:pPr lvl="1"/>
            <a:r>
              <a:rPr lang="en-US" dirty="0"/>
              <a:t>Applying an 80-20 split for training and validation to ensure the model generalizes well to new data.</a:t>
            </a:r>
          </a:p>
          <a:p>
            <a:r>
              <a:rPr lang="en-US" b="1" dirty="0"/>
              <a:t>System Integration:</a:t>
            </a:r>
            <a:r>
              <a:rPr lang="en-US" dirty="0"/>
              <a:t> * Exporting the trained intelligence as a serialized </a:t>
            </a:r>
            <a:r>
              <a:rPr lang="en-US" dirty="0" err="1"/>
              <a:t>inventory_model.joblib</a:t>
            </a:r>
            <a:r>
              <a:rPr lang="en-US" dirty="0"/>
              <a:t> file.</a:t>
            </a:r>
          </a:p>
          <a:p>
            <a:pPr lvl="1"/>
            <a:r>
              <a:rPr lang="en-US" dirty="0"/>
              <a:t>Connecting the backend model to a multi-page </a:t>
            </a:r>
            <a:r>
              <a:rPr lang="en-US" b="1" dirty="0"/>
              <a:t>Streamlit</a:t>
            </a:r>
            <a:r>
              <a:rPr lang="en-US" dirty="0"/>
              <a:t> frontend for user interaction.</a:t>
            </a:r>
          </a:p>
          <a:p>
            <a:r>
              <a:rPr lang="en-US" b="1" dirty="0"/>
              <a:t>Evaluation &amp; Optimization:</a:t>
            </a:r>
            <a:r>
              <a:rPr lang="en-US" dirty="0"/>
              <a:t> * Testing the model's performance using the R2 Score metric, achieving a final accuracy of </a:t>
            </a:r>
            <a:r>
              <a:rPr lang="en-US" b="1" dirty="0"/>
              <a:t>91.4%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BCE7-F4ED-9239-EF42-63DF6CAA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48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1653" y="503519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45" y="1797189"/>
            <a:ext cx="9897485" cy="377762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Successful Implementation:</a:t>
            </a:r>
            <a:r>
              <a:rPr lang="en-US" sz="2400" dirty="0"/>
              <a:t> Developed an end-to-end inventory forecasting system using the </a:t>
            </a:r>
            <a:r>
              <a:rPr lang="en-US" sz="2400" b="1" dirty="0"/>
              <a:t>XGBoost v2.1</a:t>
            </a:r>
            <a:r>
              <a:rPr lang="en-US" sz="2400" dirty="0"/>
              <a:t> algorithm and a </a:t>
            </a:r>
            <a:r>
              <a:rPr lang="en-US" sz="2400" b="1" dirty="0"/>
              <a:t>Streamlit</a:t>
            </a:r>
            <a:r>
              <a:rPr lang="en-US" sz="2400" dirty="0"/>
              <a:t> web interface.</a:t>
            </a:r>
          </a:p>
          <a:p>
            <a:r>
              <a:rPr lang="en-US" sz="2400" b="1" dirty="0"/>
              <a:t>High Predictive Accuracy:</a:t>
            </a:r>
            <a:r>
              <a:rPr lang="en-US" sz="2400" dirty="0"/>
              <a:t> Achieved a significant </a:t>
            </a:r>
            <a:r>
              <a:rPr lang="en-US" sz="2400" b="1" dirty="0"/>
              <a:t>91.4% R2 Score</a:t>
            </a:r>
            <a:r>
              <a:rPr lang="en-US" sz="2400" dirty="0"/>
              <a:t>, proving that Machine Learning can effectively replace manual guesswork in retail.</a:t>
            </a:r>
          </a:p>
          <a:p>
            <a:r>
              <a:rPr lang="en-US" sz="2400" b="1" dirty="0"/>
              <a:t>Scalable Architecture:</a:t>
            </a:r>
            <a:r>
              <a:rPr lang="en-US" sz="2400" dirty="0"/>
              <a:t> The system successfully handles data complexity across </a:t>
            </a:r>
            <a:r>
              <a:rPr lang="en-US" sz="2400" b="1" dirty="0"/>
              <a:t>54 store locations</a:t>
            </a:r>
            <a:r>
              <a:rPr lang="en-US" sz="2400" dirty="0"/>
              <a:t>, providing granular insights for each.</a:t>
            </a:r>
          </a:p>
          <a:p>
            <a:r>
              <a:rPr lang="en-US" sz="2400" b="1" dirty="0"/>
              <a:t>Business Impact:</a:t>
            </a:r>
            <a:r>
              <a:rPr lang="en-US" sz="2400" dirty="0"/>
              <a:t> By providing real-time demand intensity via interactive gauges, the tool helps minimize both "Stockouts" and "Overstocking".</a:t>
            </a:r>
          </a:p>
          <a:p>
            <a:r>
              <a:rPr lang="en-US" sz="2400" b="1" dirty="0"/>
              <a:t>Future Readiness:</a:t>
            </a:r>
            <a:r>
              <a:rPr lang="en-US" sz="2400" dirty="0"/>
              <a:t> The modular design of the pipeline allows for future integration with live database APIs and advanced deep learning models.</a:t>
            </a:r>
          </a:p>
          <a:p>
            <a:pPr algn="just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1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980" y="459028"/>
            <a:ext cx="8911687" cy="1086438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 (cont..)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7" y="1648691"/>
            <a:ext cx="9642764" cy="4696691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Kevin Vu, “Deep Learning: Overview and Applications” accessed on 3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November 2019, https://dzone.com/articles/deep-learning-for-manufacturing-overview-amp-appli.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Qing Chang, “A Deep Learning Approach for MIMO-NOMA Downlink Signal Detection” accessed on 19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August 2019, https://www.mdpi.com/1424-8220/19/11/2526/htm#/.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Jiwon Jiong, “For Your Skin Beauty: Mapping Cosmetic Items with Bokeh”, accessed on 14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August 2019, https://towardsdatascience.com/for-your-skin-beauty-mapping-cosmetic-items-with-bokeh-af7523ca68e5.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Rio Iwabuchi et al, “Proposal of Recommender System Based on User Evaluation and Cosmetic Ingredients”, International Conference on Advanced Informatics, Concepts, Theory and Applications, IEEE 2017, 978-1-5386-3001-3.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Yuki Matsunami et al, “Tag Recommendation Method for a Cosmetics Review Recommender System”, iiWAS’17, ACM 2017, 166-170.</a:t>
            </a: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302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4476</TotalTime>
  <Words>1545</Words>
  <Application>Microsoft Office PowerPoint</Application>
  <PresentationFormat>Widescreen</PresentationFormat>
  <Paragraphs>166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Century Gothic</vt:lpstr>
      <vt:lpstr>Google Sans</vt:lpstr>
      <vt:lpstr>Google Sans Text</vt:lpstr>
      <vt:lpstr>Times New Roman</vt:lpstr>
      <vt:lpstr>Wingdings 3</vt:lpstr>
      <vt:lpstr>Wisp</vt:lpstr>
      <vt:lpstr>Retail AI Enterprise: Next-Gen Inventory Forecasting System</vt:lpstr>
      <vt:lpstr>Abstract</vt:lpstr>
      <vt:lpstr>Outline</vt:lpstr>
      <vt:lpstr>Introduction </vt:lpstr>
      <vt:lpstr>Background Theory (cont.) </vt:lpstr>
      <vt:lpstr>Background Theory (cont.)</vt:lpstr>
      <vt:lpstr>Literature Survey (to be cont.) </vt:lpstr>
      <vt:lpstr>Comparative Study </vt:lpstr>
      <vt:lpstr>PowerPoint Presentation</vt:lpstr>
      <vt:lpstr>Motivation and Problem Statement </vt:lpstr>
      <vt:lpstr>Research Objectives</vt:lpstr>
      <vt:lpstr>Proposed Solution</vt:lpstr>
      <vt:lpstr>Proposed Work</vt:lpstr>
      <vt:lpstr>Proposed Methodology</vt:lpstr>
      <vt:lpstr>Conclusion </vt:lpstr>
      <vt:lpstr>References (cont..)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Parmar Rohil Pravin Bhai</cp:lastModifiedBy>
  <cp:revision>191</cp:revision>
  <dcterms:created xsi:type="dcterms:W3CDTF">2020-03-23T16:33:51Z</dcterms:created>
  <dcterms:modified xsi:type="dcterms:W3CDTF">2026-03-29T11:58:17Z</dcterms:modified>
</cp:coreProperties>
</file>